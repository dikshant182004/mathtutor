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4206240" cy="5088636"/>
          </a:xfrm>
          <a:prstGeom prst="rect">
            <a:avLst/>
          </a:prstGeom>
          <a:solidFill>
            <a:srgbClr val="0E1525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4008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🧮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274320" y="18288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JEE Math Tutor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74320" y="2606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Deep Dive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31546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LangGraph Pipeline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CRAG · Tavily MCP · Long-Term Memory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0" y="5029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</a:rPr>
              <a:t>TECH STACK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0" y="914400"/>
            <a:ext cx="1920240" cy="4572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914400"/>
            <a:ext cx="4572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4681728" y="9144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LangGraph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720840" y="914400"/>
            <a:ext cx="1920240" cy="4572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720840" y="914400"/>
            <a:ext cx="4572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6830568" y="9144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LLaMA 3.3 70B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1572768"/>
            <a:ext cx="1920240" cy="4572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1572768"/>
            <a:ext cx="4572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4681728" y="157276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Redis Stack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20840" y="1572768"/>
            <a:ext cx="1920240" cy="4572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20840" y="1572768"/>
            <a:ext cx="45720" cy="45720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20" name="Text 18"/>
          <p:cNvSpPr/>
          <p:nvPr/>
        </p:nvSpPr>
        <p:spPr>
          <a:xfrm>
            <a:off x="6830568" y="157276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FAISS + BM25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2231136"/>
            <a:ext cx="1920240" cy="4572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0" y="2231136"/>
            <a:ext cx="45720" cy="4572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3" name="Text 21"/>
          <p:cNvSpPr/>
          <p:nvPr/>
        </p:nvSpPr>
        <p:spPr>
          <a:xfrm>
            <a:off x="4681728" y="223113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Cohere Embed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720840" y="2231136"/>
            <a:ext cx="1920240" cy="4572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720840" y="2231136"/>
            <a:ext cx="45720" cy="4572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6" name="Text 24"/>
          <p:cNvSpPr/>
          <p:nvPr/>
        </p:nvSpPr>
        <p:spPr>
          <a:xfrm>
            <a:off x="6830568" y="223113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Tavily MCP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0" y="2889504"/>
            <a:ext cx="1920240" cy="4572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0" y="2889504"/>
            <a:ext cx="45720" cy="45720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29" name="Text 27"/>
          <p:cNvSpPr/>
          <p:nvPr/>
        </p:nvSpPr>
        <p:spPr>
          <a:xfrm>
            <a:off x="4681728" y="288950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Streamlit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720840" y="2889504"/>
            <a:ext cx="1920240" cy="4572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720840" y="2889504"/>
            <a:ext cx="4572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2" name="Text 30"/>
          <p:cNvSpPr/>
          <p:nvPr/>
        </p:nvSpPr>
        <p:spPr>
          <a:xfrm>
            <a:off x="6830568" y="288950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SymPy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E2D45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Built with LangGraph · Groq · Cohere · Redis Stack · Streamlit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2E8F0"/>
                </a:solidFill>
              </a:rPr>
              <a:t>SYSTEM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594360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5943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Architecture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965960" cy="347472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0120"/>
            <a:ext cx="1965960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09728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🖥️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11480" y="16916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</a:rPr>
              <a:t>Streamlit Frontend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194560"/>
            <a:ext cx="1783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Chat UI · Activity panel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PDF upload · OAuth login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HITL forms · Memory viz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68880" y="960120"/>
            <a:ext cx="1965960" cy="347472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960120"/>
            <a:ext cx="196596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2468880" y="109728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🔁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560320" y="16916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</a:rPr>
              <a:t>LangGraph StateGraph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60320" y="2194560"/>
            <a:ext cx="1783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14 nodes · ReAct loop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RedisSaver checkpoints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Interrupt() for HITL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17720" y="960120"/>
            <a:ext cx="1965960" cy="347472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17720" y="960120"/>
            <a:ext cx="196596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4617720" y="109728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🗄️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709160" y="16916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</a:rPr>
              <a:t>Redis Stack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09160" y="2194560"/>
            <a:ext cx="1783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STM checkpoints · LTM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Vector HNSW index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User &amp; thread registry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766560" y="960120"/>
            <a:ext cx="1965960" cy="347472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66560" y="960120"/>
            <a:ext cx="19659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109728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🔧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858000" y="16916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</a:rPr>
              <a:t>Tool Layer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0" y="2194560"/>
            <a:ext cx="1783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Hybrid CRAG (RAG)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Tavily MCP web search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SymPy calculator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286000" y="2743200"/>
            <a:ext cx="18288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4434840" y="2743200"/>
            <a:ext cx="18288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6583680" y="2743200"/>
            <a:ext cx="18288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arrow"/>
          </a:ln>
        </p:spPr>
      </p:sp>
      <p:sp>
        <p:nvSpPr>
          <p:cNvPr id="29" name="Text 27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DD4BF"/>
                </a:solidFill>
              </a:rPr>
              <a:t>Student → Frontend → LangGraph → Redis + Tools → Response → Student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</a:rPr>
              <a:t>AGENT PIPELINE — 14 NODE LANGGRAPH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548640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A78BF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5486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Core Pipeline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82880" y="914400"/>
            <a:ext cx="1280160" cy="384048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19456" y="914400"/>
            <a:ext cx="1207008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detect_input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82880" y="1417320"/>
            <a:ext cx="594360" cy="347472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9456" y="1417320"/>
            <a:ext cx="521208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ocr_node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822960" y="1417320"/>
            <a:ext cx="594360" cy="347472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9536" y="1417320"/>
            <a:ext cx="521208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asr_node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82880" y="1901952"/>
            <a:ext cx="1280160" cy="365760"/>
          </a:xfrm>
          <a:prstGeom prst="rect">
            <a:avLst/>
          </a:prstGeom>
          <a:solidFill>
            <a:srgbClr val="7C2D12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19456" y="1901952"/>
            <a:ext cx="1207008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guardrail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82880" y="2395728"/>
            <a:ext cx="1280160" cy="365760"/>
          </a:xfrm>
          <a:prstGeom prst="rect">
            <a:avLst/>
          </a:prstGeom>
          <a:solidFill>
            <a:srgbClr val="1E4D2B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19456" y="2395728"/>
            <a:ext cx="1207008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parser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82880" y="2880360"/>
            <a:ext cx="1280160" cy="365760"/>
          </a:xfrm>
          <a:prstGeom prst="rect">
            <a:avLst/>
          </a:prstGeom>
          <a:solidFill>
            <a:srgbClr val="1A2D5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19456" y="2880360"/>
            <a:ext cx="1207008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retrieve_ltm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182880" y="3364992"/>
            <a:ext cx="1280160" cy="365760"/>
          </a:xfrm>
          <a:prstGeom prst="rect">
            <a:avLst/>
          </a:prstGeom>
          <a:solidFill>
            <a:srgbClr val="4C1D95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19456" y="3364992"/>
            <a:ext cx="1207008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intent_router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828800" y="1417320"/>
            <a:ext cx="1371600" cy="384048"/>
          </a:xfrm>
          <a:prstGeom prst="rect">
            <a:avLst/>
          </a:prstGeom>
          <a:solidFill>
            <a:srgbClr val="1A3A1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865376" y="1417320"/>
            <a:ext cx="1298448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solver_agent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828800" y="1938528"/>
            <a:ext cx="1371600" cy="365760"/>
          </a:xfrm>
          <a:prstGeom prst="rect">
            <a:avLst/>
          </a:prstGeom>
          <a:solidFill>
            <a:srgbClr val="451A03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865376" y="1938528"/>
            <a:ext cx="1298448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tool_node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1828800" y="2423160"/>
            <a:ext cx="1371600" cy="365760"/>
          </a:xfrm>
          <a:prstGeom prst="rect">
            <a:avLst/>
          </a:prstGeom>
          <a:solidFill>
            <a:srgbClr val="1C3A1C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865376" y="2423160"/>
            <a:ext cx="1298448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verifier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828800" y="2907792"/>
            <a:ext cx="1371600" cy="365760"/>
          </a:xfrm>
          <a:prstGeom prst="rect">
            <a:avLst/>
          </a:prstGeom>
          <a:solidFill>
            <a:srgbClr val="2D1A4D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865376" y="2907792"/>
            <a:ext cx="1298448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direct_response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566160" y="1920240"/>
            <a:ext cx="1188720" cy="384048"/>
          </a:xfrm>
          <a:prstGeom prst="rect">
            <a:avLst/>
          </a:prstGeom>
          <a:solidFill>
            <a:srgbClr val="7C2D12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602736" y="1920240"/>
            <a:ext cx="1115568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safety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566160" y="2423160"/>
            <a:ext cx="1188720" cy="384048"/>
          </a:xfrm>
          <a:prstGeom prst="rect">
            <a:avLst/>
          </a:prstGeom>
          <a:solidFill>
            <a:srgbClr val="064E3B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602736" y="2423160"/>
            <a:ext cx="1115568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explainer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566160" y="2926080"/>
            <a:ext cx="1188720" cy="384048"/>
          </a:xfrm>
          <a:prstGeom prst="rect">
            <a:avLst/>
          </a:prstGeom>
          <a:solidFill>
            <a:srgbClr val="7C0000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602736" y="2926080"/>
            <a:ext cx="1115568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hitl_node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566160" y="3429000"/>
            <a:ext cx="1188720" cy="384048"/>
          </a:xfrm>
          <a:prstGeom prst="rect">
            <a:avLst/>
          </a:prstGeom>
          <a:solidFill>
            <a:srgbClr val="1A2D5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602736" y="3429000"/>
            <a:ext cx="1115568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store_ltm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822960" y="1115568"/>
            <a:ext cx="0" cy="786384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arrow"/>
          </a:ln>
        </p:spPr>
      </p:sp>
      <p:sp>
        <p:nvSpPr>
          <p:cNvPr id="37" name="Shape 35"/>
          <p:cNvSpPr/>
          <p:nvPr/>
        </p:nvSpPr>
        <p:spPr>
          <a:xfrm>
            <a:off x="822960" y="2267712"/>
            <a:ext cx="0" cy="128016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arrow"/>
          </a:ln>
        </p:spPr>
      </p:sp>
      <p:sp>
        <p:nvSpPr>
          <p:cNvPr id="38" name="Shape 36"/>
          <p:cNvSpPr/>
          <p:nvPr/>
        </p:nvSpPr>
        <p:spPr>
          <a:xfrm>
            <a:off x="822960" y="2761488"/>
            <a:ext cx="0" cy="118872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arrow"/>
          </a:ln>
        </p:spPr>
      </p:sp>
      <p:sp>
        <p:nvSpPr>
          <p:cNvPr id="39" name="Shape 37"/>
          <p:cNvSpPr/>
          <p:nvPr/>
        </p:nvSpPr>
        <p:spPr>
          <a:xfrm>
            <a:off x="822960" y="3246120"/>
            <a:ext cx="0" cy="118872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arrow"/>
          </a:ln>
        </p:spPr>
      </p:sp>
      <p:sp>
        <p:nvSpPr>
          <p:cNvPr id="40" name="Shape 38"/>
          <p:cNvSpPr/>
          <p:nvPr/>
        </p:nvSpPr>
        <p:spPr>
          <a:xfrm>
            <a:off x="1463040" y="3547872"/>
            <a:ext cx="365760" cy="-45720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arrow"/>
          </a:ln>
        </p:spPr>
      </p:sp>
      <p:sp>
        <p:nvSpPr>
          <p:cNvPr id="41" name="Shape 39"/>
          <p:cNvSpPr/>
          <p:nvPr/>
        </p:nvSpPr>
        <p:spPr>
          <a:xfrm>
            <a:off x="1463040" y="3456432"/>
            <a:ext cx="365760" cy="-1847088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arrow"/>
          </a:ln>
        </p:spPr>
      </p:sp>
      <p:sp>
        <p:nvSpPr>
          <p:cNvPr id="42" name="Shape 40"/>
          <p:cNvSpPr/>
          <p:nvPr/>
        </p:nvSpPr>
        <p:spPr>
          <a:xfrm>
            <a:off x="2514600" y="1609344"/>
            <a:ext cx="0" cy="329184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arrow"/>
          </a:ln>
        </p:spPr>
      </p:sp>
      <p:sp>
        <p:nvSpPr>
          <p:cNvPr id="43" name="Shape 41"/>
          <p:cNvSpPr/>
          <p:nvPr/>
        </p:nvSpPr>
        <p:spPr>
          <a:xfrm>
            <a:off x="2514600" y="2304288"/>
            <a:ext cx="0" cy="118872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arrow"/>
          </a:ln>
        </p:spPr>
      </p:sp>
      <p:sp>
        <p:nvSpPr>
          <p:cNvPr id="44" name="Shape 42"/>
          <p:cNvSpPr/>
          <p:nvPr/>
        </p:nvSpPr>
        <p:spPr>
          <a:xfrm>
            <a:off x="3200400" y="2606040"/>
            <a:ext cx="36576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arrow"/>
          </a:ln>
        </p:spPr>
      </p:sp>
      <p:sp>
        <p:nvSpPr>
          <p:cNvPr id="45" name="Shape 43"/>
          <p:cNvSpPr/>
          <p:nvPr/>
        </p:nvSpPr>
        <p:spPr>
          <a:xfrm>
            <a:off x="3200400" y="3090672"/>
            <a:ext cx="36576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arrow"/>
          </a:ln>
        </p:spPr>
      </p:sp>
      <p:sp>
        <p:nvSpPr>
          <p:cNvPr id="46" name="Shape 44"/>
          <p:cNvSpPr/>
          <p:nvPr/>
        </p:nvSpPr>
        <p:spPr>
          <a:xfrm>
            <a:off x="4754880" y="2103120"/>
            <a:ext cx="0" cy="32004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arrow"/>
          </a:ln>
        </p:spPr>
      </p:sp>
      <p:sp>
        <p:nvSpPr>
          <p:cNvPr id="47" name="Shape 45"/>
          <p:cNvSpPr/>
          <p:nvPr/>
        </p:nvSpPr>
        <p:spPr>
          <a:xfrm>
            <a:off x="4754880" y="2807208"/>
            <a:ext cx="0" cy="118872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arrow"/>
          </a:ln>
        </p:spPr>
      </p:sp>
      <p:sp>
        <p:nvSpPr>
          <p:cNvPr id="48" name="Shape 46"/>
          <p:cNvSpPr/>
          <p:nvPr/>
        </p:nvSpPr>
        <p:spPr>
          <a:xfrm>
            <a:off x="4754880" y="3310128"/>
            <a:ext cx="0" cy="118872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tailEnd type="arrow"/>
          </a:ln>
        </p:spPr>
      </p:sp>
      <p:sp>
        <p:nvSpPr>
          <p:cNvPr id="49" name="Text 47"/>
          <p:cNvSpPr/>
          <p:nvPr/>
        </p:nvSpPr>
        <p:spPr>
          <a:xfrm>
            <a:off x="5074920" y="8686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4748B"/>
                </a:solidFill>
              </a:rPr>
              <a:t>NODE LEGEND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074920" y="1188720"/>
            <a:ext cx="3749040" cy="420624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5166360" y="1188720"/>
            <a:ext cx="356616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</a:rPr>
              <a:t>🔵 Input Nodes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detect, OCR, ASR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074920" y="1673352"/>
            <a:ext cx="3749040" cy="420624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5166360" y="1673352"/>
            <a:ext cx="356616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</a:rPr>
              <a:t>🛡️ Guard &amp; Parse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guardrail, parser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074920" y="2157984"/>
            <a:ext cx="3749040" cy="420624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5166360" y="2157984"/>
            <a:ext cx="356616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</a:rPr>
              <a:t>🧠 Memory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retrieve_ltm, store_ltm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074920" y="2642616"/>
            <a:ext cx="3749040" cy="420624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5166360" y="2642616"/>
            <a:ext cx="356616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</a:rPr>
              <a:t>⚙️ Solver Pipeline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solver ↔ tools ↔ verifier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5074920" y="3127248"/>
            <a:ext cx="3749040" cy="420624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5166360" y="3127248"/>
            <a:ext cx="356616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</a:rPr>
              <a:t>💬 Direct Response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explain/hint/research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074920" y="3611880"/>
            <a:ext cx="3749040" cy="420624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5166360" y="3611880"/>
            <a:ext cx="356616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</a:rPr>
              <a:t>🔒 Safety + Explain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output check + tutor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074920" y="4096512"/>
            <a:ext cx="3749040" cy="420624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5166360" y="4096512"/>
            <a:ext cx="3566160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</a:rPr>
              <a:t>🙋 HITL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interrupt() checkpoint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</a:rPr>
              <a:t>HYBRID CRAG — CORRECTIVE RAG PIPELINE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548640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2DD4BF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5486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RAG System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1572768" cy="329184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60120"/>
            <a:ext cx="1572768" cy="4572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8" name="Shape 6"/>
          <p:cNvSpPr/>
          <p:nvPr/>
        </p:nvSpPr>
        <p:spPr>
          <a:xfrm>
            <a:off x="795528" y="1024128"/>
            <a:ext cx="438912" cy="438912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" y="1024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28600" y="1536192"/>
            <a:ext cx="1572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📄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74320" y="2029968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PDF Ingestion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2423160"/>
            <a:ext cx="148132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PyPDFLoader → chunk 800 chars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150 overlap · per thread_id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Append-safe (multi-PDF)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01368" y="2606040"/>
            <a:ext cx="164592" cy="0"/>
          </a:xfrm>
          <a:prstGeom prst="line">
            <a:avLst/>
          </a:prstGeom>
          <a:noFill/>
          <a:ln w="15240">
            <a:solidFill>
              <a:srgbClr val="3B82F6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1965960" y="960120"/>
            <a:ext cx="1572768" cy="329184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965960" y="960120"/>
            <a:ext cx="1572768" cy="457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2532888" y="1024128"/>
            <a:ext cx="438912" cy="438912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2532888" y="1024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965960" y="1536192"/>
            <a:ext cx="1572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2011680" y="2029968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Dense Retrieval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011680" y="2423160"/>
            <a:ext cx="148132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Cohere embed-english-v3.0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1024-dim L2-normalised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FAISS IndexFlatIP · top 10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538728" y="2606040"/>
            <a:ext cx="164592" cy="0"/>
          </a:xfrm>
          <a:prstGeom prst="line">
            <a:avLst/>
          </a:prstGeom>
          <a:noFill/>
          <a:ln w="15240">
            <a:solidFill>
              <a:srgbClr val="3B82F6"/>
            </a:solidFill>
            <a:prstDash val="solid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3703320" y="960120"/>
            <a:ext cx="1572768" cy="329184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03320" y="960120"/>
            <a:ext cx="1572768" cy="45720"/>
          </a:xfrm>
          <a:prstGeom prst="rect">
            <a:avLst/>
          </a:prstGeom>
          <a:solidFill>
            <a:srgbClr val="4C1D95"/>
          </a:solidFill>
          <a:ln/>
        </p:spPr>
      </p:sp>
      <p:sp>
        <p:nvSpPr>
          <p:cNvPr id="24" name="Shape 22"/>
          <p:cNvSpPr/>
          <p:nvPr/>
        </p:nvSpPr>
        <p:spPr>
          <a:xfrm>
            <a:off x="4270248" y="1024128"/>
            <a:ext cx="438912" cy="438912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25" name="Text 23"/>
          <p:cNvSpPr/>
          <p:nvPr/>
        </p:nvSpPr>
        <p:spPr>
          <a:xfrm>
            <a:off x="4270248" y="1024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703320" y="1536192"/>
            <a:ext cx="1572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3749040" y="2029968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Sparse Retrieval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749040" y="2423160"/>
            <a:ext cx="148132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BM25Okapi on tokenized chunks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Top 10 by BM25 score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Keyword complement to dense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276088" y="2606040"/>
            <a:ext cx="164592" cy="0"/>
          </a:xfrm>
          <a:prstGeom prst="line">
            <a:avLst/>
          </a:prstGeom>
          <a:noFill/>
          <a:ln w="15240">
            <a:solidFill>
              <a:srgbClr val="3B82F6"/>
            </a:solidFill>
            <a:prstDash val="solid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5440680" y="960120"/>
            <a:ext cx="1572768" cy="329184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440680" y="960120"/>
            <a:ext cx="1572768" cy="45720"/>
          </a:xfrm>
          <a:prstGeom prst="rect">
            <a:avLst/>
          </a:prstGeom>
          <a:solidFill>
            <a:srgbClr val="7C2D12"/>
          </a:solidFill>
          <a:ln/>
        </p:spPr>
      </p:sp>
      <p:sp>
        <p:nvSpPr>
          <p:cNvPr id="32" name="Shape 30"/>
          <p:cNvSpPr/>
          <p:nvPr/>
        </p:nvSpPr>
        <p:spPr>
          <a:xfrm>
            <a:off x="6007608" y="1024128"/>
            <a:ext cx="438912" cy="438912"/>
          </a:xfrm>
          <a:prstGeom prst="ellipse">
            <a:avLst/>
          </a:prstGeom>
          <a:solidFill>
            <a:srgbClr val="7C2D12"/>
          </a:solidFill>
          <a:ln/>
        </p:spPr>
      </p:sp>
      <p:sp>
        <p:nvSpPr>
          <p:cNvPr id="33" name="Text 31"/>
          <p:cNvSpPr/>
          <p:nvPr/>
        </p:nvSpPr>
        <p:spPr>
          <a:xfrm>
            <a:off x="6007608" y="1024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440680" y="1536192"/>
            <a:ext cx="1572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5486400" y="2029968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RRF Fusion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0" y="2423160"/>
            <a:ext cx="148132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Reciprocal Rank Fusion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score = 1/(K=60 + rank)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Merge dense + sparse ranks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013448" y="2606040"/>
            <a:ext cx="164592" cy="0"/>
          </a:xfrm>
          <a:prstGeom prst="line">
            <a:avLst/>
          </a:prstGeom>
          <a:noFill/>
          <a:ln w="15240">
            <a:solidFill>
              <a:srgbClr val="3B82F6"/>
            </a:solidFill>
            <a:prstDash val="solid"/>
            <a:tailEnd type="arrow"/>
          </a:ln>
        </p:spPr>
      </p:sp>
      <p:sp>
        <p:nvSpPr>
          <p:cNvPr id="38" name="Shape 36"/>
          <p:cNvSpPr/>
          <p:nvPr/>
        </p:nvSpPr>
        <p:spPr>
          <a:xfrm>
            <a:off x="7178040" y="960120"/>
            <a:ext cx="1572768" cy="329184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178040" y="960120"/>
            <a:ext cx="1572768" cy="4572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40" name="Shape 38"/>
          <p:cNvSpPr/>
          <p:nvPr/>
        </p:nvSpPr>
        <p:spPr>
          <a:xfrm>
            <a:off x="7744968" y="1024128"/>
            <a:ext cx="438912" cy="438912"/>
          </a:xfrm>
          <a:prstGeom prst="ellipse">
            <a:avLst/>
          </a:prstGeom>
          <a:solidFill>
            <a:srgbClr val="065F46"/>
          </a:solidFill>
          <a:ln/>
        </p:spPr>
      </p:sp>
      <p:sp>
        <p:nvSpPr>
          <p:cNvPr id="41" name="Text 39"/>
          <p:cNvSpPr/>
          <p:nvPr/>
        </p:nvSpPr>
        <p:spPr>
          <a:xfrm>
            <a:off x="7744968" y="10241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178040" y="1536192"/>
            <a:ext cx="1572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7223760" y="2029968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Corrective Filter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223760" y="2423160"/>
            <a:ext cx="148132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Drop cosine &lt; 0.30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Off-topic chunks removed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Returns top-5 passages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28600" y="4407408"/>
            <a:ext cx="8686800" cy="59436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228600" y="4407408"/>
            <a:ext cx="54864" cy="5943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7" name="Text 45"/>
          <p:cNvSpPr/>
          <p:nvPr/>
        </p:nvSpPr>
        <p:spPr>
          <a:xfrm>
            <a:off x="365760" y="4407408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DD4BF"/>
                </a:solidFill>
              </a:rPr>
              <a:t>Two-Call Pattern: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737360" y="4434840"/>
            <a:ext cx="7040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Call 1 forces rag_tool via tool_choice → RAG executes inline → result injected as HumanMessage sentinel.  Call 2 binds only [calc, web_search] — writes full solution. Avoids Groq's ToolMessage validation error.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</a:rPr>
              <a:t>TAVILY MCP — REAL-TIME WEB SEARCH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548640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5486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Web Search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89611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Request Flow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3840480" cy="530352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34440"/>
            <a:ext cx="54864" cy="530352"/>
          </a:xfrm>
          <a:prstGeom prst="rect">
            <a:avLst/>
          </a:prstGeom>
          <a:solidFill>
            <a:srgbClr val="1A3A1A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234440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⚙️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96112" y="1234440"/>
            <a:ext cx="320040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Solver Agent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Decides web search needed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40280" y="1764792"/>
            <a:ext cx="0" cy="128016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320040" y="1892808"/>
            <a:ext cx="3840480" cy="530352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892808"/>
            <a:ext cx="54864" cy="53035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1892808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🔧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96112" y="1892808"/>
            <a:ext cx="320040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tool_choice: web_search_tool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LangChain tool binding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40280" y="2423160"/>
            <a:ext cx="0" cy="128016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320040" y="2551176"/>
            <a:ext cx="3840480" cy="530352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551176"/>
            <a:ext cx="54864" cy="530352"/>
          </a:xfrm>
          <a:prstGeom prst="rect">
            <a:avLst/>
          </a:prstGeom>
          <a:solidFill>
            <a:srgbClr val="451A03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2551176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96112" y="2551176"/>
            <a:ext cx="320040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FastMCP Client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Async SSE to mcp.tavily.com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3081528"/>
            <a:ext cx="0" cy="128016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320040" y="3209544"/>
            <a:ext cx="3840480" cy="530352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209544"/>
            <a:ext cx="54864" cy="530352"/>
          </a:xfrm>
          <a:prstGeom prst="rect">
            <a:avLst/>
          </a:prstGeom>
          <a:solidFill>
            <a:srgbClr val="7C3A00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" y="3209544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96112" y="3209544"/>
            <a:ext cx="320040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Tavily MCP Server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search_depth=advanced, 5 results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240280" y="3739896"/>
            <a:ext cx="0" cy="128016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320040" y="3867912"/>
            <a:ext cx="3840480" cy="530352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3867912"/>
            <a:ext cx="54864" cy="530352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" y="3867912"/>
            <a:ext cx="457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📋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96112" y="3867912"/>
            <a:ext cx="320040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Formatted Markdown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Direct answer + ranked snippets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0" y="89611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Multi-Query Strategy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0" y="1234440"/>
            <a:ext cx="4206240" cy="54864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45152" y="1307592"/>
            <a:ext cx="402336" cy="402336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34" name="Text 32"/>
          <p:cNvSpPr/>
          <p:nvPr/>
        </p:nvSpPr>
        <p:spPr>
          <a:xfrm>
            <a:off x="4645152" y="13075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Query 1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120640" y="1234440"/>
            <a:ext cx="356616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Core formula / theorem / concept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0" y="1920240"/>
            <a:ext cx="4206240" cy="54864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45152" y="1993392"/>
            <a:ext cx="402336" cy="40233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38" name="Text 36"/>
          <p:cNvSpPr/>
          <p:nvPr/>
        </p:nvSpPr>
        <p:spPr>
          <a:xfrm>
            <a:off x="4645152" y="19933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Query 2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120640" y="1920240"/>
            <a:ext cx="356616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Worked example or step-by-step solution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0" y="2606040"/>
            <a:ext cx="4206240" cy="54864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45152" y="2679192"/>
            <a:ext cx="402336" cy="40233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2" name="Text 40"/>
          <p:cNvSpPr/>
          <p:nvPr/>
        </p:nvSpPr>
        <p:spPr>
          <a:xfrm>
            <a:off x="4645152" y="26791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Query 3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120640" y="2606040"/>
            <a:ext cx="356616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</a:rPr>
              <a:t>Edge case / common mistake / application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0" y="33832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2C55E"/>
                </a:solidFill>
              </a:rPr>
              <a:t>WHEN TO CALL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766560" y="33832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F4444"/>
                </a:solidFill>
              </a:rPr>
              <a:t>WHEN NOT TO CALL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72000" y="3703320"/>
            <a:ext cx="2011680" cy="246888"/>
          </a:xfrm>
          <a:prstGeom prst="rect">
            <a:avLst/>
          </a:prstGeom>
          <a:solidFill>
            <a:srgbClr val="0D2D1A"/>
          </a:solidFill>
          <a:ln/>
        </p:spPr>
      </p:sp>
      <p:sp>
        <p:nvSpPr>
          <p:cNvPr id="47" name="Text 45"/>
          <p:cNvSpPr/>
          <p:nvPr/>
        </p:nvSpPr>
        <p:spPr>
          <a:xfrm>
            <a:off x="4617720" y="3703320"/>
            <a:ext cx="1920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</a:rPr>
              <a:t>✓  Recent JEE questions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572000" y="3995928"/>
            <a:ext cx="2011680" cy="246888"/>
          </a:xfrm>
          <a:prstGeom prst="rect">
            <a:avLst/>
          </a:prstGeom>
          <a:solidFill>
            <a:srgbClr val="0D2D1A"/>
          </a:solidFill>
          <a:ln/>
        </p:spPr>
      </p:sp>
      <p:sp>
        <p:nvSpPr>
          <p:cNvPr id="49" name="Text 47"/>
          <p:cNvSpPr/>
          <p:nvPr/>
        </p:nvSpPr>
        <p:spPr>
          <a:xfrm>
            <a:off x="4617720" y="3995928"/>
            <a:ext cx="1920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</a:rPr>
              <a:t>✓  Olympiad problems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572000" y="4288536"/>
            <a:ext cx="2011680" cy="246888"/>
          </a:xfrm>
          <a:prstGeom prst="rect">
            <a:avLst/>
          </a:prstGeom>
          <a:solidFill>
            <a:srgbClr val="0D2D1A"/>
          </a:solidFill>
          <a:ln/>
        </p:spPr>
      </p:sp>
      <p:sp>
        <p:nvSpPr>
          <p:cNvPr id="51" name="Text 49"/>
          <p:cNvSpPr/>
          <p:nvPr/>
        </p:nvSpPr>
        <p:spPr>
          <a:xfrm>
            <a:off x="4617720" y="4288536"/>
            <a:ext cx="1920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</a:rPr>
              <a:t>✓  CRAG returned empty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572000" y="4581144"/>
            <a:ext cx="2011680" cy="246888"/>
          </a:xfrm>
          <a:prstGeom prst="rect">
            <a:avLst/>
          </a:prstGeom>
          <a:solidFill>
            <a:srgbClr val="0D2D1A"/>
          </a:solidFill>
          <a:ln/>
        </p:spPr>
      </p:sp>
      <p:sp>
        <p:nvSpPr>
          <p:cNvPr id="53" name="Text 51"/>
          <p:cNvSpPr/>
          <p:nvPr/>
        </p:nvSpPr>
        <p:spPr>
          <a:xfrm>
            <a:off x="4617720" y="4581144"/>
            <a:ext cx="1920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</a:rPr>
              <a:t>✓  Current discoveries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766560" y="3703320"/>
            <a:ext cx="2011680" cy="246888"/>
          </a:xfrm>
          <a:prstGeom prst="rect">
            <a:avLst/>
          </a:prstGeom>
          <a:solidFill>
            <a:srgbClr val="2D0D0D"/>
          </a:solidFill>
          <a:ln/>
        </p:spPr>
      </p:sp>
      <p:sp>
        <p:nvSpPr>
          <p:cNvPr id="55" name="Text 53"/>
          <p:cNvSpPr/>
          <p:nvPr/>
        </p:nvSpPr>
        <p:spPr>
          <a:xfrm>
            <a:off x="6812280" y="3703320"/>
            <a:ext cx="1920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</a:rPr>
              <a:t>✗  Basic math computation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766560" y="3995928"/>
            <a:ext cx="2011680" cy="246888"/>
          </a:xfrm>
          <a:prstGeom prst="rect">
            <a:avLst/>
          </a:prstGeom>
          <a:solidFill>
            <a:srgbClr val="2D0D0D"/>
          </a:solidFill>
          <a:ln/>
        </p:spPr>
      </p:sp>
      <p:sp>
        <p:nvSpPr>
          <p:cNvPr id="57" name="Text 55"/>
          <p:cNvSpPr/>
          <p:nvPr/>
        </p:nvSpPr>
        <p:spPr>
          <a:xfrm>
            <a:off x="6812280" y="3995928"/>
            <a:ext cx="1920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</a:rPr>
              <a:t>✗  Topics in uploaded PDF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766560" y="4288536"/>
            <a:ext cx="2011680" cy="246888"/>
          </a:xfrm>
          <a:prstGeom prst="rect">
            <a:avLst/>
          </a:prstGeom>
          <a:solidFill>
            <a:srgbClr val="2D0D0D"/>
          </a:solidFill>
          <a:ln/>
        </p:spPr>
      </p:sp>
      <p:sp>
        <p:nvSpPr>
          <p:cNvPr id="59" name="Text 57"/>
          <p:cNvSpPr/>
          <p:nvPr/>
        </p:nvSpPr>
        <p:spPr>
          <a:xfrm>
            <a:off x="6812280" y="4288536"/>
            <a:ext cx="1920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</a:rPr>
              <a:t>✗  Standard integrals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766560" y="4581144"/>
            <a:ext cx="2011680" cy="246888"/>
          </a:xfrm>
          <a:prstGeom prst="rect">
            <a:avLst/>
          </a:prstGeom>
          <a:solidFill>
            <a:srgbClr val="2D0D0D"/>
          </a:solidFill>
          <a:ln/>
        </p:spPr>
      </p:sp>
      <p:sp>
        <p:nvSpPr>
          <p:cNvPr id="61" name="Text 59"/>
          <p:cNvSpPr/>
          <p:nvPr/>
        </p:nvSpPr>
        <p:spPr>
          <a:xfrm>
            <a:off x="6812280" y="4581144"/>
            <a:ext cx="1920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F4444"/>
                </a:solidFill>
              </a:rPr>
              <a:t>✗  Routine algebra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</a:rPr>
              <a:t>AGENT ACTIVITY PANEL — LIVE STREAMING UI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548640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A78BF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5486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Frontend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8961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</a:rPr>
              <a:t>Live Activity Panel (3:7 column layout)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3840480" cy="402336"/>
          </a:xfrm>
          <a:prstGeom prst="rect">
            <a:avLst/>
          </a:prstGeom>
          <a:solidFill>
            <a:srgbClr val="0A1A0A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1234440"/>
            <a:ext cx="45720" cy="40233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252728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</a:rPr>
              <a:t>🔍 detect_input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20624" y="143560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mode=text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520440" y="1234440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C55E"/>
                </a:solidFill>
              </a:rPr>
              <a:t>✓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1709928"/>
            <a:ext cx="3840480" cy="402336"/>
          </a:xfrm>
          <a:prstGeom prst="rect">
            <a:avLst/>
          </a:prstGeom>
          <a:solidFill>
            <a:srgbClr val="0A1A0A"/>
          </a:solidFill>
          <a:ln/>
        </p:spPr>
      </p:sp>
      <p:sp>
        <p:nvSpPr>
          <p:cNvPr id="13" name="Shape 11"/>
          <p:cNvSpPr/>
          <p:nvPr/>
        </p:nvSpPr>
        <p:spPr>
          <a:xfrm>
            <a:off x="320040" y="1709928"/>
            <a:ext cx="45720" cy="40233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420624" y="1728216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</a:rPr>
              <a:t>🛡️ guardrail_agent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20624" y="1911096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PASSED | topic=calculus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520440" y="1709928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C55E"/>
                </a:solidFill>
              </a:rPr>
              <a:t>✓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2185416"/>
            <a:ext cx="3840480" cy="402336"/>
          </a:xfrm>
          <a:prstGeom prst="rect">
            <a:avLst/>
          </a:prstGeom>
          <a:solidFill>
            <a:srgbClr val="0A1A0A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2185416"/>
            <a:ext cx="45720" cy="40233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9" name="Text 17"/>
          <p:cNvSpPr/>
          <p:nvPr/>
        </p:nvSpPr>
        <p:spPr>
          <a:xfrm>
            <a:off x="420624" y="22037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</a:rPr>
              <a:t>🧩 parser_agent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20624" y="2386584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Topic: Calculus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520440" y="2185416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C55E"/>
                </a:solidFill>
              </a:rPr>
              <a:t>✓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2660904"/>
            <a:ext cx="3840480" cy="402336"/>
          </a:xfrm>
          <a:prstGeom prst="rect">
            <a:avLst/>
          </a:prstGeom>
          <a:solidFill>
            <a:srgbClr val="0A1A0A"/>
          </a:solidFill>
          <a:ln/>
        </p:spPr>
      </p:sp>
      <p:sp>
        <p:nvSpPr>
          <p:cNvPr id="23" name="Shape 21"/>
          <p:cNvSpPr/>
          <p:nvPr/>
        </p:nvSpPr>
        <p:spPr>
          <a:xfrm>
            <a:off x="320040" y="2660904"/>
            <a:ext cx="45720" cy="40233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4" name="Text 22"/>
          <p:cNvSpPr/>
          <p:nvPr/>
        </p:nvSpPr>
        <p:spPr>
          <a:xfrm>
            <a:off x="420624" y="267919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</a:rPr>
              <a:t>🧠 retrieve_ltm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20624" y="2862072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3 episodes | weak: calculus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520440" y="2660904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C55E"/>
                </a:solidFill>
              </a:rPr>
              <a:t>✓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0040" y="3136392"/>
            <a:ext cx="3840480" cy="402336"/>
          </a:xfrm>
          <a:prstGeom prst="rect">
            <a:avLst/>
          </a:prstGeom>
          <a:solidFill>
            <a:srgbClr val="0A1A0A"/>
          </a:solidFill>
          <a:ln/>
        </p:spPr>
      </p:sp>
      <p:sp>
        <p:nvSpPr>
          <p:cNvPr id="28" name="Shape 26"/>
          <p:cNvSpPr/>
          <p:nvPr/>
        </p:nvSpPr>
        <p:spPr>
          <a:xfrm>
            <a:off x="320040" y="3136392"/>
            <a:ext cx="45720" cy="40233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9" name="Text 27"/>
          <p:cNvSpPr/>
          <p:nvPr/>
        </p:nvSpPr>
        <p:spPr>
          <a:xfrm>
            <a:off x="420624" y="315468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</a:rPr>
              <a:t>🗺️ intent_router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20624" y="3337560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solve | hard | power rule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520440" y="3136392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C55E"/>
                </a:solidFill>
              </a:rPr>
              <a:t>✓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20040" y="3611880"/>
            <a:ext cx="3840480" cy="402336"/>
          </a:xfrm>
          <a:prstGeom prst="rect">
            <a:avLst/>
          </a:prstGeom>
          <a:solidFill>
            <a:srgbClr val="0D1F33"/>
          </a:solidFill>
          <a:ln/>
        </p:spPr>
      </p:sp>
      <p:sp>
        <p:nvSpPr>
          <p:cNvPr id="33" name="Shape 31"/>
          <p:cNvSpPr/>
          <p:nvPr/>
        </p:nvSpPr>
        <p:spPr>
          <a:xfrm>
            <a:off x="320040" y="3611880"/>
            <a:ext cx="45720" cy="40233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2"/>
          <p:cNvSpPr/>
          <p:nvPr/>
        </p:nvSpPr>
        <p:spPr>
          <a:xfrm>
            <a:off x="420624" y="3630168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</a:rPr>
              <a:t>🧮 solver_agent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20624" y="381304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Calling rag_tool…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520440" y="3611880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82F6"/>
                </a:solidFill>
              </a:rPr>
              <a:t>●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20040" y="4087368"/>
            <a:ext cx="3840480" cy="402336"/>
          </a:xfrm>
          <a:prstGeom prst="rect">
            <a:avLst/>
          </a:prstGeom>
          <a:solidFill>
            <a:srgbClr val="1A1000"/>
          </a:solidFill>
          <a:ln/>
        </p:spPr>
      </p:sp>
      <p:sp>
        <p:nvSpPr>
          <p:cNvPr id="38" name="Shape 36"/>
          <p:cNvSpPr/>
          <p:nvPr/>
        </p:nvSpPr>
        <p:spPr>
          <a:xfrm>
            <a:off x="320040" y="4087368"/>
            <a:ext cx="45720" cy="40233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420624" y="4105656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</a:rPr>
              <a:t>📄 rag_tool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20624" y="4288536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query: integration by parts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520440" y="4087368"/>
            <a:ext cx="594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</a:rPr>
              <a:t>◆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572000" y="89611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How the Activity Panel Works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0" y="1234440"/>
            <a:ext cx="4251960" cy="50292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572000" y="1234440"/>
            <a:ext cx="54864" cy="5029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45" name="Text 43"/>
          <p:cNvSpPr/>
          <p:nvPr/>
        </p:nvSpPr>
        <p:spPr>
          <a:xfrm>
            <a:off x="4700016" y="1234440"/>
            <a:ext cx="40690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st.empty() placeholder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Panel rewrites entire block on every chunk — no duplicate cards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572000" y="1828800"/>
            <a:ext cx="4251960" cy="50292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572000" y="1828800"/>
            <a:ext cx="54864" cy="5029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48" name="Text 46"/>
          <p:cNvSpPr/>
          <p:nvPr/>
        </p:nvSpPr>
        <p:spPr>
          <a:xfrm>
            <a:off x="4700016" y="1828800"/>
            <a:ext cx="40690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stream_mode='updates'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chatbot.stream() yields per-node dicts caught by _handle_chunk()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572000" y="2423160"/>
            <a:ext cx="4251960" cy="50292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572000" y="2423160"/>
            <a:ext cx="54864" cy="5029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51" name="Text 49"/>
          <p:cNvSpPr/>
          <p:nvPr/>
        </p:nvSpPr>
        <p:spPr>
          <a:xfrm>
            <a:off x="4700016" y="2423160"/>
            <a:ext cx="40690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agent_payload_log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Every node writes to state — fields shown in collapsible payload table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572000" y="3017520"/>
            <a:ext cx="4251960" cy="50292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572000" y="3017520"/>
            <a:ext cx="54864" cy="5029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54" name="Text 52"/>
          <p:cNvSpPr/>
          <p:nvPr/>
        </p:nvSpPr>
        <p:spPr>
          <a:xfrm>
            <a:off x="4700016" y="3017520"/>
            <a:ext cx="40690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Tool card injection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direct_response_tool_calls signals web search without ToolNode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572000" y="3611880"/>
            <a:ext cx="4251960" cy="50292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572000" y="3611880"/>
            <a:ext cx="54864" cy="5029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57" name="Text 55"/>
          <p:cNvSpPr/>
          <p:nvPr/>
        </p:nvSpPr>
        <p:spPr>
          <a:xfrm>
            <a:off x="4700016" y="3611880"/>
            <a:ext cx="40690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Status states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active (pulsing blue) → tool (orange) → done (green) → hitl (red)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572000" y="4206240"/>
            <a:ext cx="4251960" cy="50292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4572000" y="4206240"/>
            <a:ext cx="54864" cy="50292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60" name="Text 58"/>
          <p:cNvSpPr/>
          <p:nvPr/>
        </p:nvSpPr>
        <p:spPr>
          <a:xfrm>
            <a:off x="4700016" y="4206240"/>
            <a:ext cx="40690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mark_all_done()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Called at stream end to flip all remaining active cards to done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</a:rPr>
              <a:t>MEMORY ARCHITECTURE — STM &amp; LTM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548640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22C55E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5486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Memory System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8961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C55E"/>
                </a:solidFill>
              </a:rPr>
              <a:t>SHORT-TERM MEMORY (STM)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207008"/>
            <a:ext cx="3931920" cy="356616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07008"/>
            <a:ext cx="393192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298448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</a:rPr>
              <a:t>RedisSaver Checkpointer: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965960" y="1298448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Auto-checkpoints AgentState after every node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1755648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</a:rPr>
              <a:t>Key pattern: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965960" y="1755648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checkpoint:&lt;thread_id&gt;:*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2212848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</a:rPr>
              <a:t>TTL: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965960" y="2212848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2 hours (STM_SUMMARY_TTL)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1480" y="2670048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</a:rPr>
              <a:t>HITL Resume: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965960" y="2670048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interrupt() pauses → Command(resume=) restores exactly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1480" y="3127248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</a:rPr>
              <a:t>Token Trimming: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965960" y="3127248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&gt; 8k tokens → LLM summarizes → replaces old messages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3584448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</a:rPr>
              <a:t>Rolling Summary: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965960" y="3584448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stm:summary:&lt;thread_id&gt; — persists across restarts in TTL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" y="4041648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</a:rPr>
              <a:t>Always keep last N: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965960" y="4041648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KEEP_LAST_N=6 messages always preserved verbatim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72000" y="896112"/>
            <a:ext cx="4251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B82F6"/>
                </a:solidFill>
              </a:rPr>
              <a:t>LONG-TERM MEMORY (LTM)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1207008"/>
            <a:ext cx="4251960" cy="1115568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1207008"/>
            <a:ext cx="54864" cy="111556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6" name="Text 24"/>
          <p:cNvSpPr/>
          <p:nvPr/>
        </p:nvSpPr>
        <p:spPr>
          <a:xfrm>
            <a:off x="4663440" y="1207008"/>
            <a:ext cx="45720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📖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138928" y="125272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</a:rPr>
              <a:t>Episodic Memory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38928" y="1481328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F46E5"/>
                </a:solidFill>
              </a:rPr>
              <a:t>episodic:&lt;sid&gt;:&lt;eid&gt;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138928" y="1682496"/>
            <a:ext cx="3611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One record per solved problem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Cohere embedding (1024-dim)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HNSW vector search · 90d TTL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Decay: e^(-days/30) × log(access+1)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0" y="2441448"/>
            <a:ext cx="4251960" cy="1115568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0" y="2441448"/>
            <a:ext cx="54864" cy="11155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4663440" y="2441448"/>
            <a:ext cx="45720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138928" y="248716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</a:rPr>
              <a:t>Semantic Memory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38928" y="2715768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D9488"/>
                </a:solidFill>
              </a:rPr>
              <a:t>semantic:&lt;student_id&gt;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138928" y="2916936"/>
            <a:ext cx="3611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weak_topics {topic: fail_count}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strong_topics {topic: success_count}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mistake_patterns [{pattern, count}]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Permanent · no TTL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572000" y="3675888"/>
            <a:ext cx="4251960" cy="1115568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572000" y="3675888"/>
            <a:ext cx="54864" cy="11155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8" name="Text 36"/>
          <p:cNvSpPr/>
          <p:nvPr/>
        </p:nvSpPr>
        <p:spPr>
          <a:xfrm>
            <a:off x="4663440" y="3675888"/>
            <a:ext cx="45720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5138928" y="372160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</a:rPr>
              <a:t>Procedural Memory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138928" y="3950208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7C3AED"/>
                </a:solidFill>
              </a:rPr>
              <a:t>procedural:&lt;student_id&gt;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138928" y="4151376"/>
            <a:ext cx="3611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strategy_success per topic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success_rate + attempts_avg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Best = max(rate, -attempts)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Solver-flow only (flow gate)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572000" y="4800600"/>
            <a:ext cx="4251960" cy="246888"/>
          </a:xfrm>
          <a:prstGeom prst="rect">
            <a:avLst/>
          </a:prstGeom>
          <a:solidFill>
            <a:srgbClr val="1A0A00"/>
          </a:solidFill>
          <a:ln/>
        </p:spPr>
      </p:sp>
      <p:sp>
        <p:nvSpPr>
          <p:cNvPr id="43" name="Text 41"/>
          <p:cNvSpPr/>
          <p:nvPr/>
        </p:nvSpPr>
        <p:spPr>
          <a:xfrm>
            <a:off x="4626864" y="4800600"/>
            <a:ext cx="41605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⚠  Flow gate: semantic + procedural written ONLY for solve/hint/formula_lookup intents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</a:rPr>
              <a:t>MEMORY GRAPH VISUALIZER — NEO4J STYLE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548640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2DD4BF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5486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Memory Viz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8961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</a:rPr>
              <a:t>vis.js Interactive Graph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207008"/>
            <a:ext cx="4572000" cy="3657600"/>
          </a:xfrm>
          <a:prstGeom prst="rect">
            <a:avLst/>
          </a:prstGeom>
          <a:solidFill>
            <a:srgbClr val="070B10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148840" y="1600200"/>
            <a:ext cx="502920" cy="502920"/>
          </a:xfrm>
          <a:prstGeom prst="ellipse">
            <a:avLst/>
          </a:prstGeom>
          <a:solidFill>
            <a:srgbClr val="1A3A5C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4884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0A5FA"/>
                </a:solidFill>
              </a:rPr>
              <a:t>★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60A5FA"/>
                </a:solidFill>
              </a:rPr>
              <a:t>Student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777240" y="2468880"/>
            <a:ext cx="502920" cy="411480"/>
          </a:xfrm>
          <a:prstGeom prst="ellipse">
            <a:avLst/>
          </a:prstGeom>
          <a:solidFill>
            <a:srgbClr val="1A2E1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4688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DE80"/>
                </a:solidFill>
              </a:rPr>
              <a:t>Session 1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1920240" y="2926080"/>
            <a:ext cx="502920" cy="411480"/>
          </a:xfrm>
          <a:prstGeom prst="ellipse">
            <a:avLst/>
          </a:prstGeom>
          <a:solidFill>
            <a:srgbClr val="1A2E1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20240" y="29260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DE80"/>
                </a:solidFill>
              </a:rPr>
              <a:t>Session 2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3200400" y="2423160"/>
            <a:ext cx="502920" cy="411480"/>
          </a:xfrm>
          <a:prstGeom prst="ellipse">
            <a:avLst/>
          </a:prstGeom>
          <a:solidFill>
            <a:srgbClr val="1A2E1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242316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4ADE80"/>
                </a:solidFill>
              </a:rPr>
              <a:t>Session 3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502920" cy="411480"/>
          </a:xfrm>
          <a:prstGeom prst="ellipse">
            <a:avLst/>
          </a:prstGeom>
          <a:solidFill>
            <a:srgbClr val="1F1A2E"/>
          </a:solidFill>
          <a:ln w="15240">
            <a:solidFill>
              <a:srgbClr val="818C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52044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A5B4FC"/>
                </a:solidFill>
              </a:rPr>
              <a:t>calculus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A5B4FC"/>
                </a:solidFill>
              </a:rPr>
              <a:t>correct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1874520" y="3977640"/>
            <a:ext cx="502920" cy="411480"/>
          </a:xfrm>
          <a:prstGeom prst="ellipse">
            <a:avLst/>
          </a:prstGeom>
          <a:solidFill>
            <a:srgbClr val="1F1A2E"/>
          </a:solidFill>
          <a:ln w="15240">
            <a:solidFill>
              <a:srgbClr val="818C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74520" y="397764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A5B4FC"/>
                </a:solidFill>
              </a:rPr>
              <a:t>algebra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A5B4FC"/>
                </a:solidFill>
              </a:rPr>
              <a:t>hitl</a:t>
            </a: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3337560" y="3456432"/>
            <a:ext cx="502920" cy="411480"/>
          </a:xfrm>
          <a:prstGeom prst="ellipse">
            <a:avLst/>
          </a:prstGeom>
          <a:solidFill>
            <a:srgbClr val="1F1A2E"/>
          </a:solidFill>
          <a:ln w="15240">
            <a:solidFill>
              <a:srgbClr val="818C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345643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A5B4FC"/>
                </a:solidFill>
              </a:rPr>
              <a:t>prob.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A5B4FC"/>
                </a:solidFill>
              </a:rPr>
              <a:t>correct</a:t>
            </a:r>
            <a:endParaRPr lang="en-US" sz="600" dirty="0"/>
          </a:p>
        </p:txBody>
      </p:sp>
      <p:sp>
        <p:nvSpPr>
          <p:cNvPr id="22" name="Shape 20"/>
          <p:cNvSpPr/>
          <p:nvPr/>
        </p:nvSpPr>
        <p:spPr>
          <a:xfrm>
            <a:off x="457200" y="1920240"/>
            <a:ext cx="548640" cy="365760"/>
          </a:xfrm>
          <a:prstGeom prst="rect">
            <a:avLst/>
          </a:prstGeom>
          <a:solidFill>
            <a:srgbClr val="0F2A2A"/>
          </a:solidFill>
          <a:ln w="15240">
            <a:solidFill>
              <a:srgbClr val="2DD4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19202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5EEAD4"/>
                </a:solidFill>
              </a:rPr>
              <a:t>Semantic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3383280" y="3017520"/>
            <a:ext cx="594360" cy="365760"/>
          </a:xfrm>
          <a:prstGeom prst="rect">
            <a:avLst/>
          </a:prstGeom>
          <a:solidFill>
            <a:srgbClr val="2D1020"/>
          </a:solidFill>
          <a:ln w="15240">
            <a:solidFill>
              <a:srgbClr val="F472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301752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9A8D4"/>
                </a:solidFill>
              </a:rPr>
              <a:t>Procedural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2395728" y="1828800"/>
            <a:ext cx="-1371600" cy="640080"/>
          </a:xfrm>
          <a:prstGeom prst="line">
            <a:avLst/>
          </a:prstGeom>
          <a:noFill/>
          <a:ln w="10160">
            <a:solidFill>
              <a:srgbClr val="1E3A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1828800"/>
            <a:ext cx="-228600" cy="1097280"/>
          </a:xfrm>
          <a:prstGeom prst="line">
            <a:avLst/>
          </a:prstGeom>
          <a:noFill/>
          <a:ln w="10160">
            <a:solidFill>
              <a:srgbClr val="1E3A5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95728" y="1828800"/>
            <a:ext cx="1051560" cy="594360"/>
          </a:xfrm>
          <a:prstGeom prst="line">
            <a:avLst/>
          </a:prstGeom>
          <a:noFill/>
          <a:ln w="10160">
            <a:solidFill>
              <a:srgbClr val="1E3A5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24128" y="2880360"/>
            <a:ext cx="-228600" cy="640080"/>
          </a:xfrm>
          <a:prstGeom prst="line">
            <a:avLst/>
          </a:prstGeom>
          <a:noFill/>
          <a:ln w="10160">
            <a:solidFill>
              <a:srgbClr val="1E3A5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67128" y="3337560"/>
            <a:ext cx="-45720" cy="640080"/>
          </a:xfrm>
          <a:prstGeom prst="line">
            <a:avLst/>
          </a:prstGeom>
          <a:noFill/>
          <a:ln w="10160">
            <a:solidFill>
              <a:srgbClr val="1E3A5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47288" y="2834640"/>
            <a:ext cx="137160" cy="621792"/>
          </a:xfrm>
          <a:prstGeom prst="line">
            <a:avLst/>
          </a:prstGeom>
          <a:noFill/>
          <a:ln w="10160">
            <a:solidFill>
              <a:srgbClr val="1E3A5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95728" y="1828800"/>
            <a:ext cx="-1664208" cy="274320"/>
          </a:xfrm>
          <a:prstGeom prst="line">
            <a:avLst/>
          </a:prstGeom>
          <a:noFill/>
          <a:ln w="10160">
            <a:solidFill>
              <a:srgbClr val="1E3A5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395728" y="1828800"/>
            <a:ext cx="1280160" cy="1188720"/>
          </a:xfrm>
          <a:prstGeom prst="line">
            <a:avLst/>
          </a:prstGeom>
          <a:noFill/>
          <a:ln w="10160">
            <a:solidFill>
              <a:srgbClr val="1E3A5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74920" y="8961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D4BF"/>
                </a:solidFill>
              </a:rPr>
              <a:t>Visualizer Features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074920" y="1234440"/>
            <a:ext cx="3749040" cy="59436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074920" y="1234440"/>
            <a:ext cx="54864" cy="5943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7" name="Text 35"/>
          <p:cNvSpPr/>
          <p:nvPr/>
        </p:nvSpPr>
        <p:spPr>
          <a:xfrm>
            <a:off x="5212080" y="1234440"/>
            <a:ext cx="356616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⬡ 7 Node Types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student · session · agent · tool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episodic · semantic · procedural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074920" y="1947672"/>
            <a:ext cx="3749040" cy="59436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074920" y="1947672"/>
            <a:ext cx="54864" cy="59436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40" name="Text 38"/>
          <p:cNvSpPr/>
          <p:nvPr/>
        </p:nvSpPr>
        <p:spPr>
          <a:xfrm>
            <a:off x="5212080" y="1947672"/>
            <a:ext cx="356616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🖱️ Interactive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Click → detail panel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Double-click → expand neighbours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Hover → glow effect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074920" y="2660904"/>
            <a:ext cx="3749040" cy="59436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074920" y="2660904"/>
            <a:ext cx="54864" cy="5943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3" name="Text 41"/>
          <p:cNvSpPr/>
          <p:nvPr/>
        </p:nvSpPr>
        <p:spPr>
          <a:xfrm>
            <a:off x="5212080" y="2660904"/>
            <a:ext cx="356616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🎛️ Controls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4 layout presets (Radial, Hierarchical,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Organic, Tight) · Physics toggle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074920" y="3374136"/>
            <a:ext cx="3749040" cy="59436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074920" y="3374136"/>
            <a:ext cx="54864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6" name="Text 44"/>
          <p:cNvSpPr/>
          <p:nvPr/>
        </p:nvSpPr>
        <p:spPr>
          <a:xfrm>
            <a:off x="5212080" y="3374136"/>
            <a:ext cx="356616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🔍 Filters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Toggle node types · Max threads slider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Edge label toggle · PNG export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074920" y="4087368"/>
            <a:ext cx="3749040" cy="59436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074920" y="4087368"/>
            <a:ext cx="54864" cy="5943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9" name="Text 47"/>
          <p:cNvSpPr/>
          <p:nvPr/>
        </p:nvSpPr>
        <p:spPr>
          <a:xfrm>
            <a:off x="5212080" y="4087368"/>
            <a:ext cx="356616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🎨 Decay Color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Green ≥0.6 · Yellow ≥0.3 · Red &lt;0.3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Spaced-repetition forgetting curve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</a:rPr>
              <a:t>INTENT ROUTING &amp; DUAL PIPELINE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548640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5486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Routing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89611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78BFA"/>
                </a:solidFill>
              </a:rPr>
              <a:t>6 INTENT TYPES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1920240" cy="54864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93192" y="123444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🧮  solve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93192" y="150876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Full ReAct pipeline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04872" y="1234440"/>
            <a:ext cx="1920240" cy="548640"/>
          </a:xfrm>
          <a:prstGeom prst="rect">
            <a:avLst/>
          </a:prstGeom>
          <a:solidFill>
            <a:srgbClr val="065F46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78024" y="123444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📖  explain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78024" y="150876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Direct response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0040" y="1892808"/>
            <a:ext cx="1920240" cy="548640"/>
          </a:xfrm>
          <a:prstGeom prst="rect">
            <a:avLst/>
          </a:prstGeom>
          <a:solidFill>
            <a:srgbClr val="4C1D95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93192" y="189280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💡  hint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93192" y="216712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Solver pipeline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404872" y="1892808"/>
            <a:ext cx="1920240" cy="548640"/>
          </a:xfrm>
          <a:prstGeom prst="rect">
            <a:avLst/>
          </a:prstGeom>
          <a:solidFill>
            <a:srgbClr val="7C2D12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478024" y="189280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📐  formula_lookup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478024" y="216712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Direct response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" y="2551176"/>
            <a:ext cx="1920240" cy="5486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93192" y="2551176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🔬  research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93192" y="282549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Web search + direct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404872" y="2551176"/>
            <a:ext cx="1920240" cy="548640"/>
          </a:xfrm>
          <a:prstGeom prst="rect">
            <a:avLst/>
          </a:prstGeom>
          <a:solidFill>
            <a:srgbClr val="1A3A1A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478024" y="2551176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</a:rPr>
              <a:t>📝  generate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478024" y="282549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Web search + direct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20040" y="338328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78BFA"/>
                </a:solidFill>
              </a:rPr>
              <a:t>PIPELINE ROUTING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703320"/>
            <a:ext cx="4114800" cy="109728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703320"/>
            <a:ext cx="54864" cy="10972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749040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</a:rPr>
              <a:t>Solve Path (solve · hint · formula_lookup)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397764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intent_router → solver_agent ⟷ tool_node → verifier_agent → safety_agent → explainer_agent → hitl_node → store_ltm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57200" y="443484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2C55E"/>
                </a:solidFill>
              </a:rPr>
              <a:t>Up to 3 retry iterations · Verifier routes correct/incorrect/needs_human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572000" y="896112"/>
            <a:ext cx="4251960" cy="411480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0" y="896112"/>
            <a:ext cx="54864" cy="41148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3" name="Text 31"/>
          <p:cNvSpPr/>
          <p:nvPr/>
        </p:nvSpPr>
        <p:spPr>
          <a:xfrm>
            <a:off x="4709160" y="96012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Direct Response Path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09160" y="1234440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explain · research · generate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36592" y="1572768"/>
            <a:ext cx="256032" cy="256032"/>
          </a:xfrm>
          <a:prstGeom prst="ellipse">
            <a:avLst/>
          </a:prstGeom>
          <a:solidFill>
            <a:srgbClr val="2A1A4D"/>
          </a:solidFill>
          <a:ln/>
        </p:spPr>
      </p:sp>
      <p:sp>
        <p:nvSpPr>
          <p:cNvPr id="36" name="Text 34"/>
          <p:cNvSpPr/>
          <p:nvPr/>
        </p:nvSpPr>
        <p:spPr>
          <a:xfrm>
            <a:off x="4736592" y="15727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78BFA"/>
                </a:solidFill>
              </a:rPr>
              <a:t>1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5047488" y="154533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</a:rPr>
              <a:t>Intent identified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47488" y="172821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router → direct_response_node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736592" y="2048256"/>
            <a:ext cx="256032" cy="256032"/>
          </a:xfrm>
          <a:prstGeom prst="ellipse">
            <a:avLst/>
          </a:prstGeom>
          <a:solidFill>
            <a:srgbClr val="2A1A4D"/>
          </a:solidFill>
          <a:ln/>
        </p:spPr>
      </p:sp>
      <p:sp>
        <p:nvSpPr>
          <p:cNvPr id="40" name="Text 38"/>
          <p:cNvSpPr/>
          <p:nvPr/>
        </p:nvSpPr>
        <p:spPr>
          <a:xfrm>
            <a:off x="4736592" y="20482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78BFA"/>
                </a:solidFill>
              </a:rPr>
              <a:t>2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047488" y="202082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</a:rPr>
              <a:t>Web search (optional)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047488" y="220370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research/generate → Tavily MCP before LLM call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736592" y="2523744"/>
            <a:ext cx="256032" cy="256032"/>
          </a:xfrm>
          <a:prstGeom prst="ellipse">
            <a:avLst/>
          </a:prstGeom>
          <a:solidFill>
            <a:srgbClr val="2A1A4D"/>
          </a:solidFill>
          <a:ln/>
        </p:spPr>
      </p:sp>
      <p:sp>
        <p:nvSpPr>
          <p:cNvPr id="44" name="Text 42"/>
          <p:cNvSpPr/>
          <p:nvPr/>
        </p:nvSpPr>
        <p:spPr>
          <a:xfrm>
            <a:off x="4736592" y="25237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78BFA"/>
                </a:solidFill>
              </a:rPr>
              <a:t>3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047488" y="249631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</a:rPr>
              <a:t>LLM call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047488" y="267919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reserve_llm + XML-tagged &lt;content&gt; response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736592" y="2999232"/>
            <a:ext cx="256032" cy="256032"/>
          </a:xfrm>
          <a:prstGeom prst="ellipse">
            <a:avLst/>
          </a:prstGeom>
          <a:solidFill>
            <a:srgbClr val="2A1A4D"/>
          </a:solidFill>
          <a:ln/>
        </p:spPr>
      </p:sp>
      <p:sp>
        <p:nvSpPr>
          <p:cNvPr id="48" name="Text 46"/>
          <p:cNvSpPr/>
          <p:nvPr/>
        </p:nvSpPr>
        <p:spPr>
          <a:xfrm>
            <a:off x="4736592" y="29992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78BFA"/>
                </a:solidFill>
              </a:rPr>
              <a:t>4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047488" y="29718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</a:rPr>
              <a:t>Stub outputs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047488" y="31546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solver_output + verifier_output stubs so store_ltm won't crash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736592" y="3474720"/>
            <a:ext cx="256032" cy="256032"/>
          </a:xfrm>
          <a:prstGeom prst="ellipse">
            <a:avLst/>
          </a:prstGeom>
          <a:solidFill>
            <a:srgbClr val="2A1A4D"/>
          </a:solidFill>
          <a:ln/>
        </p:spPr>
      </p:sp>
      <p:sp>
        <p:nvSpPr>
          <p:cNvPr id="52" name="Text 50"/>
          <p:cNvSpPr/>
          <p:nvPr/>
        </p:nvSpPr>
        <p:spPr>
          <a:xfrm>
            <a:off x="4736592" y="34747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78BFA"/>
                </a:solidFill>
              </a:rPr>
              <a:t>5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047488" y="344728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</a:rPr>
              <a:t>Safety check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047488" y="363016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Same safety_agent as solve path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736592" y="3950208"/>
            <a:ext cx="256032" cy="256032"/>
          </a:xfrm>
          <a:prstGeom prst="ellipse">
            <a:avLst/>
          </a:prstGeom>
          <a:solidFill>
            <a:srgbClr val="2A1A4D"/>
          </a:solidFill>
          <a:ln/>
        </p:spPr>
      </p:sp>
      <p:sp>
        <p:nvSpPr>
          <p:cNvPr id="56" name="Text 54"/>
          <p:cNvSpPr/>
          <p:nvPr/>
        </p:nvSpPr>
        <p:spPr>
          <a:xfrm>
            <a:off x="4736592" y="39502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78BFA"/>
                </a:solidFill>
              </a:rPr>
              <a:t>6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5047488" y="392277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</a:rPr>
              <a:t>HITL satisfaction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047488" y="410565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hitl_node(satisfaction) → student confirms or asks follow-up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736592" y="4425696"/>
            <a:ext cx="256032" cy="256032"/>
          </a:xfrm>
          <a:prstGeom prst="ellipse">
            <a:avLst/>
          </a:prstGeom>
          <a:solidFill>
            <a:srgbClr val="2A1A4D"/>
          </a:solidFill>
          <a:ln/>
        </p:spPr>
      </p:sp>
      <p:sp>
        <p:nvSpPr>
          <p:cNvPr id="60" name="Text 58"/>
          <p:cNvSpPr/>
          <p:nvPr/>
        </p:nvSpPr>
        <p:spPr>
          <a:xfrm>
            <a:off x="4736592" y="442569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78BFA"/>
                </a:solidFill>
              </a:rPr>
              <a:t>7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5047488" y="439826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</a:rPr>
              <a:t>Store LTM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047488" y="458114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Episodic only — semantic/procedural skipped (flow gate)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2801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2E8F0"/>
                </a:solidFill>
              </a:rPr>
              <a:t>REDIS STORAGE SCHEMA &amp; SYSTEM SUMMARY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548640"/>
            <a:ext cx="1371600" cy="256032"/>
          </a:xfrm>
          <a:prstGeom prst="roundRect">
            <a:avLst>
              <a:gd name="adj" fmla="val 14286"/>
            </a:avLst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5486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Redis Stack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0040" y="89611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F4444"/>
                </a:solidFill>
              </a:rPr>
              <a:t>REDIS KEY PATTERNS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207008"/>
            <a:ext cx="4069080" cy="338328"/>
          </a:xfrm>
          <a:prstGeom prst="rect">
            <a:avLst/>
          </a:prstGeom>
          <a:solidFill>
            <a:srgbClr val="111B2E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1207008"/>
            <a:ext cx="45720" cy="33832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" y="1225296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checkpoint:&lt;thread_id&gt;:*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20624" y="1380744"/>
            <a:ext cx="3886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LangGraph STM state snapshots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20040" y="1591056"/>
            <a:ext cx="4069080" cy="338328"/>
          </a:xfrm>
          <a:prstGeom prst="rect">
            <a:avLst/>
          </a:prstGeom>
          <a:solidFill>
            <a:srgbClr val="111B2E"/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" y="1591056"/>
            <a:ext cx="45720" cy="33832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420624" y="1609344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stm:summary:&lt;thread_id&gt;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20624" y="1764792"/>
            <a:ext cx="3886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Rolling LLM summary  · TTL 2h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20040" y="1975104"/>
            <a:ext cx="4069080" cy="338328"/>
          </a:xfrm>
          <a:prstGeom prst="rect">
            <a:avLst/>
          </a:prstGeom>
          <a:solidFill>
            <a:srgbClr val="111B2E"/>
          </a:solidFill>
          <a:ln/>
        </p:spPr>
      </p:sp>
      <p:sp>
        <p:nvSpPr>
          <p:cNvPr id="16" name="Shape 14"/>
          <p:cNvSpPr/>
          <p:nvPr/>
        </p:nvSpPr>
        <p:spPr>
          <a:xfrm>
            <a:off x="320040" y="1975104"/>
            <a:ext cx="45720" cy="338328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17" name="Text 15"/>
          <p:cNvSpPr/>
          <p:nvPr/>
        </p:nvSpPr>
        <p:spPr>
          <a:xfrm>
            <a:off x="420624" y="1993392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user:&lt;student_id&gt;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20624" y="2148840"/>
            <a:ext cx="3886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Hash: name, email, problems_solved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20040" y="2359152"/>
            <a:ext cx="4069080" cy="338328"/>
          </a:xfrm>
          <a:prstGeom prst="rect">
            <a:avLst/>
          </a:prstGeom>
          <a:solidFill>
            <a:srgbClr val="111B2E"/>
          </a:solidFill>
          <a:ln/>
        </p:spPr>
      </p:sp>
      <p:sp>
        <p:nvSpPr>
          <p:cNvPr id="20" name="Shape 18"/>
          <p:cNvSpPr/>
          <p:nvPr/>
        </p:nvSpPr>
        <p:spPr>
          <a:xfrm>
            <a:off x="320040" y="2359152"/>
            <a:ext cx="45720" cy="338328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21" name="Text 19"/>
          <p:cNvSpPr/>
          <p:nvPr/>
        </p:nvSpPr>
        <p:spPr>
          <a:xfrm>
            <a:off x="420624" y="2377440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threads:&lt;student_id&gt;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20624" y="2532888"/>
            <a:ext cx="3886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Sorted set scored by timestamp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20040" y="2743200"/>
            <a:ext cx="4069080" cy="338328"/>
          </a:xfrm>
          <a:prstGeom prst="rect">
            <a:avLst/>
          </a:prstGeom>
          <a:solidFill>
            <a:srgbClr val="111B2E"/>
          </a:solidFill>
          <a:ln/>
        </p:spPr>
      </p:sp>
      <p:sp>
        <p:nvSpPr>
          <p:cNvPr id="24" name="Shape 22"/>
          <p:cNvSpPr/>
          <p:nvPr/>
        </p:nvSpPr>
        <p:spPr>
          <a:xfrm>
            <a:off x="320040" y="2743200"/>
            <a:ext cx="45720" cy="338328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25" name="Text 23"/>
          <p:cNvSpPr/>
          <p:nvPr/>
        </p:nvSpPr>
        <p:spPr>
          <a:xfrm>
            <a:off x="420624" y="2761488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thread:&lt;thread_id&gt;:meta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20624" y="2916936"/>
            <a:ext cx="3886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Hash: summary, topic, outcome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20040" y="3127248"/>
            <a:ext cx="4069080" cy="338328"/>
          </a:xfrm>
          <a:prstGeom prst="rect">
            <a:avLst/>
          </a:prstGeom>
          <a:solidFill>
            <a:srgbClr val="111B2E"/>
          </a:solidFill>
          <a:ln/>
        </p:spPr>
      </p:sp>
      <p:sp>
        <p:nvSpPr>
          <p:cNvPr id="28" name="Shape 26"/>
          <p:cNvSpPr/>
          <p:nvPr/>
        </p:nvSpPr>
        <p:spPr>
          <a:xfrm>
            <a:off x="320040" y="3127248"/>
            <a:ext cx="45720" cy="338328"/>
          </a:xfrm>
          <a:prstGeom prst="rect">
            <a:avLst/>
          </a:prstGeom>
          <a:solidFill>
            <a:srgbClr val="4C1D95"/>
          </a:solidFill>
          <a:ln/>
        </p:spPr>
      </p:sp>
      <p:sp>
        <p:nvSpPr>
          <p:cNvPr id="29" name="Text 27"/>
          <p:cNvSpPr/>
          <p:nvPr/>
        </p:nvSpPr>
        <p:spPr>
          <a:xfrm>
            <a:off x="420624" y="3145536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episodic:&lt;sid&gt;:&lt;eid&gt;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20624" y="3300984"/>
            <a:ext cx="3886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JSON + HNSW vector · TTL 90d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20040" y="3511296"/>
            <a:ext cx="4069080" cy="338328"/>
          </a:xfrm>
          <a:prstGeom prst="rect">
            <a:avLst/>
          </a:prstGeom>
          <a:solidFill>
            <a:srgbClr val="111B2E"/>
          </a:solidFill>
          <a:ln/>
        </p:spPr>
      </p:sp>
      <p:sp>
        <p:nvSpPr>
          <p:cNvPr id="32" name="Shape 30"/>
          <p:cNvSpPr/>
          <p:nvPr/>
        </p:nvSpPr>
        <p:spPr>
          <a:xfrm>
            <a:off x="320040" y="3511296"/>
            <a:ext cx="45720" cy="338328"/>
          </a:xfrm>
          <a:prstGeom prst="rect">
            <a:avLst/>
          </a:prstGeom>
          <a:solidFill>
            <a:srgbClr val="4C1D95"/>
          </a:solidFill>
          <a:ln/>
        </p:spPr>
      </p:sp>
      <p:sp>
        <p:nvSpPr>
          <p:cNvPr id="33" name="Text 31"/>
          <p:cNvSpPr/>
          <p:nvPr/>
        </p:nvSpPr>
        <p:spPr>
          <a:xfrm>
            <a:off x="420624" y="3529584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idx:episodic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20624" y="3685032"/>
            <a:ext cx="3886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RedisVL HNSW index (COSINE/FLOAT32)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20040" y="3895344"/>
            <a:ext cx="4069080" cy="338328"/>
          </a:xfrm>
          <a:prstGeom prst="rect">
            <a:avLst/>
          </a:prstGeom>
          <a:solidFill>
            <a:srgbClr val="111B2E"/>
          </a:solidFill>
          <a:ln/>
        </p:spPr>
      </p:sp>
      <p:sp>
        <p:nvSpPr>
          <p:cNvPr id="36" name="Shape 34"/>
          <p:cNvSpPr/>
          <p:nvPr/>
        </p:nvSpPr>
        <p:spPr>
          <a:xfrm>
            <a:off x="320040" y="3895344"/>
            <a:ext cx="45720" cy="3383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7" name="Text 35"/>
          <p:cNvSpPr/>
          <p:nvPr/>
        </p:nvSpPr>
        <p:spPr>
          <a:xfrm>
            <a:off x="420624" y="3913632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semantic:&lt;student_id&gt;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20624" y="4069080"/>
            <a:ext cx="3886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JSON: weak/strong/mistakes · no TTL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20040" y="4279392"/>
            <a:ext cx="4069080" cy="338328"/>
          </a:xfrm>
          <a:prstGeom prst="rect">
            <a:avLst/>
          </a:prstGeom>
          <a:solidFill>
            <a:srgbClr val="111B2E"/>
          </a:solidFill>
          <a:ln/>
        </p:spPr>
      </p:sp>
      <p:sp>
        <p:nvSpPr>
          <p:cNvPr id="40" name="Shape 38"/>
          <p:cNvSpPr/>
          <p:nvPr/>
        </p:nvSpPr>
        <p:spPr>
          <a:xfrm>
            <a:off x="320040" y="4279392"/>
            <a:ext cx="45720" cy="3383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1" name="Text 39"/>
          <p:cNvSpPr/>
          <p:nvPr/>
        </p:nvSpPr>
        <p:spPr>
          <a:xfrm>
            <a:off x="420624" y="4297680"/>
            <a:ext cx="3886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procedural:&lt;student_id&gt;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20624" y="4453128"/>
            <a:ext cx="3886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JSON: strategy_success · no TTL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663440" y="89611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DD4BF"/>
                </a:solidFill>
              </a:rPr>
              <a:t>SYSTEM AT A GLANCE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663440" y="1207008"/>
            <a:ext cx="1298448" cy="68580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663440" y="1234440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</a:rPr>
              <a:t>14</a:t>
            </a:r>
            <a:endParaRPr lang="en-US" sz="2800" dirty="0"/>
          </a:p>
        </p:txBody>
      </p:sp>
      <p:sp>
        <p:nvSpPr>
          <p:cNvPr id="46" name="Text 44"/>
          <p:cNvSpPr/>
          <p:nvPr/>
        </p:nvSpPr>
        <p:spPr>
          <a:xfrm>
            <a:off x="4663440" y="1609344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LangGraph nodes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080760" y="1207008"/>
            <a:ext cx="1298448" cy="68580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080760" y="1234440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78BFA"/>
                </a:solidFill>
              </a:rPr>
              <a:t>6</a:t>
            </a:r>
            <a:endParaRPr lang="en-US" sz="2800" dirty="0"/>
          </a:p>
        </p:txBody>
      </p:sp>
      <p:sp>
        <p:nvSpPr>
          <p:cNvPr id="49" name="Text 47"/>
          <p:cNvSpPr/>
          <p:nvPr/>
        </p:nvSpPr>
        <p:spPr>
          <a:xfrm>
            <a:off x="6080760" y="1609344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Intent types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7498080" y="1207008"/>
            <a:ext cx="1298448" cy="68580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7498080" y="1234440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</a:rPr>
              <a:t>3</a:t>
            </a:r>
            <a:endParaRPr lang="en-US" sz="2800" dirty="0"/>
          </a:p>
        </p:txBody>
      </p:sp>
      <p:sp>
        <p:nvSpPr>
          <p:cNvPr id="52" name="Text 50"/>
          <p:cNvSpPr/>
          <p:nvPr/>
        </p:nvSpPr>
        <p:spPr>
          <a:xfrm>
            <a:off x="7498080" y="1609344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Memory layers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663440" y="2011680"/>
            <a:ext cx="1298448" cy="68580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4663440" y="2039112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2</a:t>
            </a:r>
            <a:endParaRPr lang="en-US" sz="2800" dirty="0"/>
          </a:p>
        </p:txBody>
      </p:sp>
      <p:sp>
        <p:nvSpPr>
          <p:cNvPr id="55" name="Text 53"/>
          <p:cNvSpPr/>
          <p:nvPr/>
        </p:nvSpPr>
        <p:spPr>
          <a:xfrm>
            <a:off x="4663440" y="2414016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Groq API keys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080760" y="2011680"/>
            <a:ext cx="1298448" cy="68580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6080760" y="2039112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D4BF"/>
                </a:solidFill>
              </a:rPr>
              <a:t>1024</a:t>
            </a:r>
            <a:endParaRPr lang="en-US" sz="2800" dirty="0"/>
          </a:p>
        </p:txBody>
      </p:sp>
      <p:sp>
        <p:nvSpPr>
          <p:cNvPr id="58" name="Text 56"/>
          <p:cNvSpPr/>
          <p:nvPr/>
        </p:nvSpPr>
        <p:spPr>
          <a:xfrm>
            <a:off x="6080760" y="2414016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Embedding dims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7498080" y="2011680"/>
            <a:ext cx="1298448" cy="685800"/>
          </a:xfrm>
          <a:prstGeom prst="rect">
            <a:avLst/>
          </a:prstGeom>
          <a:solidFill>
            <a:srgbClr val="111B2E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7498080" y="2039112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11D48"/>
                </a:solidFill>
              </a:rPr>
              <a:t>0.30</a:t>
            </a:r>
            <a:endParaRPr lang="en-US" sz="2800" dirty="0"/>
          </a:p>
        </p:txBody>
      </p:sp>
      <p:sp>
        <p:nvSpPr>
          <p:cNvPr id="61" name="Text 59"/>
          <p:cNvSpPr/>
          <p:nvPr/>
        </p:nvSpPr>
        <p:spPr>
          <a:xfrm>
            <a:off x="7498080" y="2414016"/>
            <a:ext cx="12984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CRAG min cosine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4663440" y="294436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59E0B"/>
                </a:solidFill>
              </a:rPr>
              <a:t>KNOWN LIMITATIONS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663440" y="3246120"/>
            <a:ext cx="4160520" cy="301752"/>
          </a:xfrm>
          <a:prstGeom prst="rect">
            <a:avLst/>
          </a:prstGeom>
          <a:solidFill>
            <a:srgbClr val="1A0A00"/>
          </a:solidFill>
          <a:ln/>
        </p:spPr>
      </p:sp>
      <p:sp>
        <p:nvSpPr>
          <p:cNvPr id="64" name="Text 62"/>
          <p:cNvSpPr/>
          <p:nvPr/>
        </p:nvSpPr>
        <p:spPr>
          <a:xfrm>
            <a:off x="4718304" y="3246120"/>
            <a:ext cx="4069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⚠  In-memory FAISS index lost on restart — re-upload PDF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4663440" y="3593592"/>
            <a:ext cx="4160520" cy="301752"/>
          </a:xfrm>
          <a:prstGeom prst="rect">
            <a:avLst/>
          </a:prstGeom>
          <a:solidFill>
            <a:srgbClr val="1A0A00"/>
          </a:solidFill>
          <a:ln/>
        </p:spPr>
      </p:sp>
      <p:sp>
        <p:nvSpPr>
          <p:cNvPr id="66" name="Text 64"/>
          <p:cNvSpPr/>
          <p:nvPr/>
        </p:nvSpPr>
        <p:spPr>
          <a:xfrm>
            <a:off x="4718304" y="3593592"/>
            <a:ext cx="4069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⚠  Groq rate limits on free tier — two-key architecture mitigates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663440" y="3941064"/>
            <a:ext cx="4160520" cy="301752"/>
          </a:xfrm>
          <a:prstGeom prst="rect">
            <a:avLst/>
          </a:prstGeom>
          <a:solidFill>
            <a:srgbClr val="1A0A00"/>
          </a:solidFill>
          <a:ln/>
        </p:spPr>
      </p:sp>
      <p:sp>
        <p:nvSpPr>
          <p:cNvPr id="68" name="Text 66"/>
          <p:cNvSpPr/>
          <p:nvPr/>
        </p:nvSpPr>
        <p:spPr>
          <a:xfrm>
            <a:off x="4718304" y="3941064"/>
            <a:ext cx="4069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⚠  weak_topics needs retry sessions to populate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4663440" y="4288536"/>
            <a:ext cx="4160520" cy="301752"/>
          </a:xfrm>
          <a:prstGeom prst="rect">
            <a:avLst/>
          </a:prstGeom>
          <a:solidFill>
            <a:srgbClr val="1A0A00"/>
          </a:solidFill>
          <a:ln/>
        </p:spPr>
      </p:sp>
      <p:sp>
        <p:nvSpPr>
          <p:cNvPr id="70" name="Text 68"/>
          <p:cNvSpPr/>
          <p:nvPr/>
        </p:nvSpPr>
        <p:spPr>
          <a:xfrm>
            <a:off x="4718304" y="4288536"/>
            <a:ext cx="4069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⚠  No concurrent multi-user scaling in single Streamlit process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E2D45"/>
          </a:solidFill>
          <a:ln/>
        </p:spPr>
      </p:sp>
      <p:sp>
        <p:nvSpPr>
          <p:cNvPr id="72" name="Text 70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LangGraph · Groq LLaMA 3.3 70B · Cohere embed-english-v3.0 · Redis Stack · FAISS · Tavily MCP · Streamlit · SymPy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JEE Math Tutor — Architecture Deep Dive</dc:title>
  <dc:subject>PptxGenJS Presentation</dc:subject>
  <dc:creator>PptxGenJS</dc:creator>
  <cp:lastModifiedBy>PptxGenJS</cp:lastModifiedBy>
  <cp:revision>1</cp:revision>
  <dcterms:created xsi:type="dcterms:W3CDTF">2026-04-05T13:50:39Z</dcterms:created>
  <dcterms:modified xsi:type="dcterms:W3CDTF">2026-04-05T13:50:39Z</dcterms:modified>
</cp:coreProperties>
</file>